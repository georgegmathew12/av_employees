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this deck shows how raw HR CSVs became a governed analytics dataset.</a:t>
            </a:r>
          </a:p>
          <a:p>
            <a:r>
              <a:t>Two audiences — frame results for the HR leader, depth for the analysts.</a:t>
            </a:r>
          </a:p>
          <a:p>
            <a:r>
              <a:t>Total: ~25 min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room in HR outcomes before introducing any tool.</a:t>
            </a:r>
          </a:p>
          <a:p>
            <a:r>
              <a:t>Skip tech jargon entirely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important slide for the HR leader — read each row out loud.</a:t>
            </a:r>
          </a:p>
          <a:p>
            <a:r>
              <a:t>Pause on 'Trust' — this is the punchline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this diagram on the medallion and quality slides.</a:t>
            </a:r>
          </a:p>
          <a:p>
            <a:r>
              <a:t>Stress: each tool has one job. No bespoke loaders or scripts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cost: small footprint here — Fivetran rows are bounded, Snowflake bills only when dbt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metaphor: bronze = raw ingredients, silver = prepped, gold = plated.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HR remembers — show a screenshot of vw_employee_full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 slide. Slow down. Each bullet = one anxiety the HR leader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time-savings and trust, not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unapologetic about limitations — honesty builds trust.</a:t>
            </a:r>
          </a:p>
          <a:p>
            <a:r>
              <a:t>Each row is a future win waiting on the source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Analysts: this is where they'll have questions. Be ready to defend the inner-join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by HR value, not engineering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Frames the next HR conversation. Each bullet has a clear source-data unlock.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these out — keep as backup. Rehearse the answers in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dashboard demo if time allows.</a:t>
            </a:r>
          </a:p>
          <a:p>
            <a:r>
              <a:t>Hand out the gaps + roadmap 1-pager.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AV EMPLOYEES  /  ELT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From 7 raw CSVs to trusted HR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1F2A37"/>
                </a:solidFill>
                <a:latin typeface="Calibri"/>
              </a:rPr>
              <a:t>A governed, tested data pipeline that Tableau and analysts can rely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6B7280"/>
                </a:solidFill>
                <a:latin typeface="Calibri"/>
              </a:rPr>
              <a:t>Built with Fivetran  ·  Snowflake  ·  dbt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Prepared by George Mathew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What HR wanted to answer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Headcount — how many employees, broken down how?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Attrition — who left, when, and why?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Tenure — how long do people stay?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Departmental composition — who works where?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Exit reasons — what patterns show up?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663440" cy="4114800"/>
          </a:xfrm>
          <a:prstGeom prst="roundRect">
            <a:avLst>
              <a:gd name="adj" fmla="val 5000"/>
            </a:avLst>
          </a:prstGeom>
          <a:solidFill>
            <a:srgbClr val="E6EFFD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91640"/>
            <a:ext cx="4389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6CDF"/>
                </a:solidFill>
                <a:latin typeface="Calibri"/>
              </a:rPr>
              <a:t>Example dashboard tiles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9456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Calibri"/>
              </a:rPr>
              <a:t>•  </a:t>
            </a:r>
            <a:r>
              <a:rPr sz="1600">
                <a:solidFill>
                  <a:srgbClr val="1F2A37"/>
                </a:solidFill>
                <a:latin typeface="Calibri"/>
              </a:rPr>
              <a:t>Headcount by department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Calibri"/>
              </a:rPr>
              <a:t>•  </a:t>
            </a:r>
            <a:r>
              <a:rPr sz="1600">
                <a:solidFill>
                  <a:srgbClr val="1F2A37"/>
                </a:solidFill>
                <a:latin typeface="Calibri"/>
              </a:rPr>
              <a:t>Monthly attrition rate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Calibri"/>
              </a:rPr>
              <a:t>•  </a:t>
            </a:r>
            <a:r>
              <a:rPr sz="1600">
                <a:solidFill>
                  <a:srgbClr val="1F2A37"/>
                </a:solidFill>
                <a:latin typeface="Calibri"/>
              </a:rPr>
              <a:t>Tenure distribution at exit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Calibri"/>
              </a:rPr>
              <a:t>•  </a:t>
            </a:r>
            <a:r>
              <a:rPr sz="1600">
                <a:solidFill>
                  <a:srgbClr val="1F2A37"/>
                </a:solidFill>
                <a:latin typeface="Calibri"/>
              </a:rPr>
              <a:t>Top exit reasons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D6CDF"/>
                </a:solidFill>
                <a:latin typeface="Calibri"/>
              </a:rPr>
              <a:t>•  </a:t>
            </a:r>
            <a:r>
              <a:rPr sz="1600">
                <a:solidFill>
                  <a:srgbClr val="1F2A37"/>
                </a:solidFill>
                <a:latin typeface="Calibri"/>
              </a:rPr>
              <a:t>Employee count by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THE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Before vs. after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3950208"/>
                <a:gridCol w="3950208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Source of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7 CSVs scattered in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One governed star schema in Snowflake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Manual file drops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Fivetran-managed ingestion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"Which file is current?"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Tests + contracts on every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Whoever holds the file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Tableau dashboards + SQL views, role-grantable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Full lineage from CSV → dashboard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Every number on a dashboard can be traced back to the raw CSV 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The pipeline in one picture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377440"/>
            <a:ext cx="1371600" cy="1005840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Google Drive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377440"/>
            <a:ext cx="1463040" cy="1005840"/>
          </a:xfrm>
          <a:prstGeom prst="roundRect">
            <a:avLst>
              <a:gd name="adj" fmla="val 30000"/>
            </a:avLst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Fivetran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747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Managed 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377440"/>
            <a:ext cx="1645920" cy="100584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Snowflake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747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Landing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377440"/>
            <a:ext cx="2011680" cy="1005840"/>
          </a:xfrm>
          <a:prstGeom prst="roundRect">
            <a:avLst>
              <a:gd name="adj" fmla="val 30000"/>
            </a:avLst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dbt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4747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bronze → silver → 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1737360" cy="1005840"/>
          </a:xfrm>
          <a:prstGeom prst="roundRect">
            <a:avLst>
              <a:gd name="adj" fmla="val 30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Snowflake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Star schema +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2377440"/>
            <a:ext cx="1645920" cy="1005840"/>
          </a:xfrm>
          <a:prstGeom prst="roundRect">
            <a:avLst>
              <a:gd name="adj" fmla="val 30000"/>
            </a:avLst>
          </a:prstGeom>
          <a:solidFill>
            <a:srgbClr val="D4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Tableau /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474720"/>
            <a:ext cx="1645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Consumers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880360.0"/>
            <a:ext cx="274320" cy="0.0"/>
          </a:xfrm>
          <a:prstGeom prst="bentConnector3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57600" y="2880360.0"/>
            <a:ext cx="274320" cy="0.0"/>
          </a:xfrm>
          <a:prstGeom prst="bentConnector3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77840" y="2880360.0"/>
            <a:ext cx="274320" cy="0.0"/>
          </a:xfrm>
          <a:prstGeom prst="bentConnector3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63840" y="2880360.0"/>
            <a:ext cx="365760" cy="0.0"/>
          </a:xfrm>
          <a:prstGeom prst="bentConnector3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66960" y="2880360.0"/>
            <a:ext cx="182880" cy="0.0"/>
          </a:xfrm>
          <a:prstGeom prst="bentConnector3">
            <a:avLst/>
          </a:prstGeom>
          <a:ln w="285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Calibri"/>
              </a:rPr>
              <a:t>Each tool has one job. The seams between them are the testable contracts.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Fivetran — moves bytes. Not a transformer.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Snowflake — stores everything; compute scales separately from storage.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dbt — every transformation lives in version-controlled, tested SQL.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Why these three tools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3950208"/>
                <a:gridCol w="3950208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 chosen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Fivetran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Managed CSV → Snowflake ingestion. Zero loader code to maintain.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Per-row cost. Justified for a recurring source, not a one-off.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Snowflake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Storage and compute scale separately. SQL-native — analysts self-serve.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Cloud cost vs. on-prem. Wins on time-to-value and reliability.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dbt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Version-controlled SQL transforms, built-in tests, contracts, lineage.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Replaces "someone's spreadsheet." Learning curve for non-engineers.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Off-the-shelf tools mean we spend time on the data, not on plumbing.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HOW DBT IS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Bronze → Silver → Gold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4592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0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B0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07A3E"/>
                </a:solidFill>
                <a:latin typeface="Calibri"/>
              </a:rPr>
              <a:t>Typed raw — 1:1 with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Renames columns to project standard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Keeps loaded_at + _line tiebreaker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No filtering, no business logic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One model per source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Calibri"/>
              </a:rPr>
              <a:t>Cleaned + conformed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Drops null rows, parses VARCHAR dates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Dedupes by loaded_at then _line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Removes FK orphans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Joins related entities (employee, dept)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4A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D4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1460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4A82E"/>
                </a:solidFill>
                <a:latin typeface="Calibri"/>
              </a:rPr>
              <a:t>Star schema + flat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0175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Dim + fact tables with contracts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fct_employment, fct_employee_department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vw_employee_full for Excel / Snowsight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What Tableau and analysts query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Three checkpoints. If a number looks wrong, we trace it back through audited stops.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DATA 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The gold layer — what HR actually uses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6CDF"/>
                </a:solidFill>
                <a:latin typeface="Calibri"/>
              </a:rPr>
              <a:t>Star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fct_employment — 1 row per employee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fct_employee_department — bridge (multi-dept)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dim_employee — name, gender, hire date, generation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dim_department — department names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dim_title — job titles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dim_exit_reason — code + label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dim_date — calendar dim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•  </a:t>
            </a:r>
            <a:r>
              <a:rPr sz="1400">
                <a:solidFill>
                  <a:srgbClr val="1F2A37"/>
                </a:solidFill>
                <a:latin typeface="Calibri"/>
              </a:rPr>
              <a:t>dim_generation — Boomer / Gen X / Millennial / Gen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D6CDF"/>
                </a:solidFill>
                <a:latin typeface="Calibri"/>
              </a:rPr>
              <a:t>Flat view for non-Tableau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E6EFFD"/>
          </a:solidFill>
          <a:ln w="12700"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Consolas"/>
              </a:rPr>
              <a:t>vw_employee_full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75488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One row per employee, all attributes pre-joined. Departments collapsed to a comma-separated string. Open it in Excel, Snowsight, or any SQL client — no joins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Analysts get the star schema. Everyone else gets one big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QUALITY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How we know the data is right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Tests </a:t>
            </a:r>
            <a:r>
              <a:rPr sz="2000">
                <a:solidFill>
                  <a:srgbClr val="1F2A37"/>
                </a:solidFill>
                <a:latin typeface="Calibri"/>
              </a:rPr>
              <a:t>on every layer — unique, not_null, accepted_values, relationships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Contracts </a:t>
            </a:r>
            <a:r>
              <a:rPr sz="2000">
                <a:solidFill>
                  <a:srgbClr val="1F2A37"/>
                </a:solidFill>
                <a:latin typeface="Calibri"/>
              </a:rPr>
              <a:t>on gold — a schema change breaks the build, not the dashboard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Snapshots </a:t>
            </a:r>
            <a:r>
              <a:rPr sz="2000">
                <a:solidFill>
                  <a:srgbClr val="1F2A37"/>
                </a:solidFill>
                <a:latin typeface="Calibri"/>
              </a:rPr>
              <a:t>— capture row-level history for tables with no source dates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CI </a:t>
            </a:r>
            <a:r>
              <a:rPr sz="2000">
                <a:solidFill>
                  <a:srgbClr val="1F2A37"/>
                </a:solidFill>
                <a:latin typeface="Calibri"/>
              </a:rPr>
              <a:t>— every code change is parsed before it can merge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 b="1">
                <a:solidFill>
                  <a:srgbClr val="1F2A37"/>
                </a:solidFill>
                <a:latin typeface="Calibri"/>
              </a:rPr>
              <a:t>Lineage </a:t>
            </a:r>
            <a:r>
              <a:rPr sz="2000">
                <a:solidFill>
                  <a:srgbClr val="1F2A37"/>
                </a:solidFill>
                <a:latin typeface="Calibri"/>
              </a:rPr>
              <a:t>docs — click any gold column and see exactly where it came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If the data breaks, the pipeline fails loudly — it does not silently publish bad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What was gained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Single source of truth for headcount and attrition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Reproducible — anyone can rebuild from raw in minutes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Self-serve for analysts (star schema) and non-technical users (flat view)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Full lineage — click a column, see where it came from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Governed access — Snowflake roles control who sees what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2D6CDF"/>
                </a:solidFill>
                <a:latin typeface="Calibri"/>
              </a:rPr>
              <a:t>•  </a:t>
            </a:r>
            <a:r>
              <a:rPr sz="2000">
                <a:solidFill>
                  <a:srgbClr val="1F2A37"/>
                </a:solidFill>
                <a:latin typeface="Calibri"/>
              </a:rPr>
              <a:t>Tested — broken data is caught before it reaches a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DATA GAPS (ALL UPSTREAM)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What was lost — honest limitations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796"/>
                <a:gridCol w="4081881"/>
                <a:gridCol w="4081881"/>
              </a:tblGrid>
              <a:tr h="653142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Effect on HR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What unlocks it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No dates on dept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Can't say which dept at exit; can't measure manager 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adds dates to dept_emp / dept_manager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exit_reason is a code only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Showing raw codes, not labels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supplies a decoder table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No location column anywhere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Can't slice headcount or attrition by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adds location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Salary &amp; title — 1 row each, no dates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Treated as "current" — no comp or promotion trends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adds dated history records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~77% of salary / dept rows have unknown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Those rows are dropped from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fixes referential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Dates stored as 2-digit-year text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Ambiguity around year boundaries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supplies ISO dates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Every gap is upstream — fixing the source unlocks new analysis without rebuilding the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DESIGN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Key decisions and their impact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33855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796"/>
                <a:gridCol w="4081881"/>
                <a:gridCol w="4081881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2D6CD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Truncate-and-reload (not incremental)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One-time load; simpler operationally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Fast to ship. Revisit when pipeline becomes recurring.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Drop FK orphans via inner join in silver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Cleaner gold numbers; avoid null-stuffed joins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~77% of salary rows excluded. Documented gap.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Bridge fact for departments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Source has multi-dept employees with no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Correct multi-dept counts; flag for single-dept lookups.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Flat view AND star schema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Different consumers — Tableau vs. Excel / Snowsight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Unblocks non-technical users at low maintenance cost.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7"/>
                          </a:solidFill>
                          <a:latin typeface="Calibri"/>
                        </a:rPr>
                        <a:t>Snapshots on undated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Capture history from this day 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Calibri"/>
                        </a:rPr>
                        <a:t>Future-proofs analysis even before source adds 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Roadmap — ordered by HR ROI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Schedule </a:t>
            </a:r>
            <a:r>
              <a:rPr sz="1800">
                <a:solidFill>
                  <a:srgbClr val="1F2A37"/>
                </a:solidFill>
                <a:latin typeface="Calibri"/>
              </a:rPr>
              <a:t>recurring sync — Fivetran + dbt on a daily cadence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Salary </a:t>
            </a:r>
            <a:r>
              <a:rPr sz="1800">
                <a:solidFill>
                  <a:srgbClr val="1F2A37"/>
                </a:solidFill>
                <a:latin typeface="Calibri"/>
              </a:rPr>
              <a:t>history fact — enables comp trends, raises, growth analysis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Title </a:t>
            </a:r>
            <a:r>
              <a:rPr sz="1800">
                <a:solidFill>
                  <a:srgbClr val="1F2A37"/>
                </a:solidFill>
                <a:latin typeface="Calibri"/>
              </a:rPr>
              <a:t>history fact — promotion paths, time-in-role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Dated </a:t>
            </a:r>
            <a:r>
              <a:rPr sz="1800">
                <a:solidFill>
                  <a:srgbClr val="1F2A37"/>
                </a:solidFill>
                <a:latin typeface="Calibri"/>
              </a:rPr>
              <a:t>department assignments — manager span, hiring velocity, dept-at-exit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Location </a:t>
            </a:r>
            <a:r>
              <a:rPr sz="1800">
                <a:solidFill>
                  <a:srgbClr val="1F2A37"/>
                </a:solidFill>
                <a:latin typeface="Calibri"/>
              </a:rPr>
              <a:t>dimension — if source ever supplies it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Source </a:t>
            </a:r>
            <a:r>
              <a:rPr sz="1800">
                <a:solidFill>
                  <a:srgbClr val="1F2A37"/>
                </a:solidFill>
                <a:latin typeface="Calibri"/>
              </a:rPr>
              <a:t>freshness alerts — catch upstream failures fast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D6CDF"/>
                </a:solidFill>
                <a:latin typeface="Calibri"/>
              </a:rPr>
              <a:t>•  </a:t>
            </a:r>
            <a:r>
              <a:rPr sz="1800" b="1">
                <a:solidFill>
                  <a:srgbClr val="1F2A37"/>
                </a:solidFill>
                <a:latin typeface="Calibri"/>
              </a:rPr>
              <a:t>Tableau </a:t>
            </a:r>
            <a:r>
              <a:rPr sz="1800">
                <a:solidFill>
                  <a:srgbClr val="1F2A37"/>
                </a:solidFill>
                <a:latin typeface="Calibri"/>
              </a:rPr>
              <a:t>role grants in Snowflake — analyst_role provisioning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The biggest wins come from source-data improvements — pipeline is ready to absorb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FUTURE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Charts we could add once source improves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Salary growth over time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Promotion paths + relation to exits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Average time in role before promotion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Manager span of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Hiring velocity by department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Cohort retention by hire year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Compensation vs. tenure curves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2D6CDF"/>
                </a:solidFill>
                <a:latin typeface="Calibri"/>
              </a:rPr>
              <a:t>•  </a:t>
            </a:r>
            <a:r>
              <a:rPr sz="1700">
                <a:solidFill>
                  <a:srgbClr val="1F2A37"/>
                </a:solidFill>
                <a:latin typeface="Calibri"/>
              </a:rPr>
              <a:t>Department-at-exit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E6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200" b="1">
                <a:solidFill>
                  <a:srgbClr val="2D6CDF"/>
                </a:solidFill>
                <a:latin typeface="Calibri"/>
              </a:rPr>
              <a:t>Why this matters for HR: These are the questions HR will ask next quarter — pipeline is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Calibri"/>
              </a:rPr>
              <a:t>Q&amp;A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Calibri"/>
              </a:rPr>
              <a:t>Anticipated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6CDF"/>
                </a:solidFill>
                <a:latin typeface="Calibri"/>
              </a:rPr>
              <a:t>From HR 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Can I trust these numbers?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How fresh is the data?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What if an upstream column changes?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Who can see this data?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What does this cost to run?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What about GDPR / employee deletes?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How do we add a new system (payroll, HRIS)?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6CDF"/>
                </a:solidFill>
                <a:latin typeface="Calibri"/>
              </a:rPr>
              <a:t>From analysts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What is the grain of each fact?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How are slowly-changing dimensions handled?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Why inner-join orphans instead of left-join + null?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Test coverage — what tiers of CI?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How are 2-digit years disambiguated?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Why a flat view AND a star schema?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•  </a:t>
            </a:r>
            <a:r>
              <a:rPr sz="1300">
                <a:solidFill>
                  <a:srgbClr val="1F2A37"/>
                </a:solidFill>
                <a:latin typeface="Calibri"/>
              </a:rPr>
              <a:t>Snapshot strategy for undated source tables?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 can HR answer now that it couldn't before?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Every headcount, attrition, and tenure number is now reproducible, tested, and traceable to a row of raw data.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The pipeline absorbs source-data improvements without rebuilding — every gap we identified today becomes a new chart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